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3657600" cy="5143500"/>
          </a:xfrm>
          <a:prstGeom prst="rect">
            <a:avLst/>
          </a:prstGeom>
          <a:solidFill>
            <a:srgbClr val="1B263B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91440" cy="514350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Lakehouse AI Platform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778D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Data, Learning &amp; Collaboration</a:t>
            </a:r>
            <a:endParaRPr lang="en-US" sz="20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778D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Enterprise Agentic AI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Dataset Workbench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00B4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Store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FF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Collaboration Framework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15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January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Problem: Agent Silos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AI teams are building agents in isolation.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3931920" cy="1188720"/>
          </a:xfrm>
          <a:prstGeom prst="rect">
            <a:avLst/>
          </a:prstGeom>
          <a:solidFill>
            <a:srgbClr val="E0E1DD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920240"/>
            <a:ext cx="73152" cy="1188720"/>
          </a:xfrm>
          <a:prstGeom prst="rect">
            <a:avLst/>
          </a:prstGeom>
          <a:solidFill>
            <a:srgbClr val="FF8A50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0574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Silos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4231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15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agent learns independently. Corrections don't propagate.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1920240"/>
            <a:ext cx="3931920" cy="1188720"/>
          </a:xfrm>
          <a:prstGeom prst="rect">
            <a:avLst/>
          </a:prstGeom>
          <a:solidFill>
            <a:srgbClr val="E0E1DD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0" y="1920240"/>
            <a:ext cx="73152" cy="1188720"/>
          </a:xfrm>
          <a:prstGeom prst="rect">
            <a:avLst/>
          </a:prstGeom>
          <a:solidFill>
            <a:srgbClr val="FF8A50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20574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Shared Context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00600" y="24231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15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B doesn't know what Agent A discussed with the same customer.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3931920" cy="1188720"/>
          </a:xfrm>
          <a:prstGeom prst="rect">
            <a:avLst/>
          </a:prstGeom>
          <a:solidFill>
            <a:srgbClr val="E0E1DD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3291840"/>
            <a:ext cx="73152" cy="1188720"/>
          </a:xfrm>
          <a:prstGeom prst="rect">
            <a:avLst/>
          </a:prstGeom>
          <a:solidFill>
            <a:srgbClr val="FF8A50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4290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Prompt Engineering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37947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15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Trial and error instead of systematic optimization.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0" y="3291840"/>
            <a:ext cx="3931920" cy="1188720"/>
          </a:xfrm>
          <a:prstGeom prst="rect">
            <a:avLst/>
          </a:prstGeom>
          <a:solidFill>
            <a:srgbClr val="E0E1DD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0" y="3291840"/>
            <a:ext cx="73152" cy="1188720"/>
          </a:xfrm>
          <a:prstGeom prst="rect">
            <a:avLst/>
          </a:prstGeom>
          <a:solidFill>
            <a:srgbClr val="FF8A50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34290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Lineage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00600" y="37947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15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Can't trace model behavior back to training data.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1B263B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Teams rebuild similar agents from scratch. Learning doesn't compound.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Lakehouse AI Platform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78D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integrated layers that make agent knowledge a governed, compounding asset.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1051560"/>
          </a:xfrm>
          <a:prstGeom prst="rect">
            <a:avLst/>
          </a:prstGeom>
          <a:solidFill>
            <a:srgbClr val="FF8A5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 Collaboration Framework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coordination • Context Pools • Tool Skill Registry • Agent Registry in UC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0" y="2514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78DA9"/>
                </a:solidFill>
              </a:rPr>
              <a:t>▼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8229600" cy="1051560"/>
          </a:xfrm>
          <a:prstGeom prst="rect">
            <a:avLst/>
          </a:prstGeom>
          <a:solidFill>
            <a:srgbClr val="00B4A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834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Example Store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2461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few-shot retrieval • Semantic search • Zero-deployment corrections • DSPy integration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0" y="3794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78DA9"/>
                </a:solidFill>
              </a:rPr>
              <a:t>▼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4023360"/>
            <a:ext cx="8229600" cy="105156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114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Training Dataset Workbench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4526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DataBits • Versioned datasets • Attribution DAG • Multimodal curation • MLflow tracking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Layer 1: Training Dataset Workbench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 foundation for enterprise AI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931920" cy="2560320"/>
          </a:xfrm>
          <a:prstGeom prst="rect">
            <a:avLst/>
          </a:prstGeom>
          <a:solidFill>
            <a:srgbClr val="E0E1D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74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DataBits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15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Atomic, immutable data units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15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Versioned with full provenance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15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(text, image, audio, doc)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15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Composable into DataSets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15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Attribution DAG for lineage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737360"/>
            <a:ext cx="3931920" cy="2560320"/>
          </a:xfrm>
          <a:prstGeom prst="rect">
            <a:avLst/>
          </a:prstGeom>
          <a:solidFill>
            <a:srgbClr val="E0E1DD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874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228600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15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No-code annotation UI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15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Unity Catalog governance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15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DSPy-native export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15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 experiment tracking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15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scoring &amp; metrics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4480560"/>
            <a:ext cx="8229600" cy="548640"/>
          </a:xfrm>
          <a:prstGeom prst="rect">
            <a:avLst/>
          </a:prstGeom>
          <a:solidFill>
            <a:srgbClr val="1B263B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4480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DataBit traces back to its source. Every model decision traces to training data.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B4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Layer 2: Example Store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few-shot learning without code changes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Few-Shot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3931920" cy="1463040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214884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15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 hardcoded in prompts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15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Updates require code + redeploy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15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examples always included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15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Engineers only can modify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0" y="16916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Store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2011680"/>
            <a:ext cx="3931920" cy="1463040"/>
          </a:xfrm>
          <a:prstGeom prst="rect">
            <a:avLst/>
          </a:prstGeom>
          <a:solidFill>
            <a:srgbClr val="F0FFF8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214884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15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retrieval at runtime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15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via UI, immediate effect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15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relevant examples retrieved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15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experts can contribute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657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4023360"/>
            <a:ext cx="1920240" cy="640080"/>
          </a:xfrm>
          <a:prstGeom prst="rect">
            <a:avLst/>
          </a:prstGeom>
          <a:solidFill>
            <a:srgbClr val="1B263B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0233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 bad output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94560" y="402336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15A77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606040" y="4023360"/>
            <a:ext cx="1920240" cy="640080"/>
          </a:xfrm>
          <a:prstGeom prst="rect">
            <a:avLst/>
          </a:prstGeom>
          <a:solidFill>
            <a:srgbClr val="1B263B"/>
          </a:solidFill>
          <a:ln/>
        </p:spPr>
      </p:sp>
      <p:sp>
        <p:nvSpPr>
          <p:cNvPr id="16" name="Text 14"/>
          <p:cNvSpPr/>
          <p:nvPr/>
        </p:nvSpPr>
        <p:spPr>
          <a:xfrm>
            <a:off x="2606040" y="40233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 example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343400" y="402336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15A77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754880" y="4023360"/>
            <a:ext cx="1920240" cy="640080"/>
          </a:xfrm>
          <a:prstGeom prst="rect">
            <a:avLst/>
          </a:prstGeom>
          <a:solidFill>
            <a:srgbClr val="1B263B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40233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to store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92240" y="402336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15A77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903720" y="4023360"/>
            <a:ext cx="1920240" cy="640080"/>
          </a:xfrm>
          <a:prstGeom prst="rect">
            <a:avLst/>
          </a:prstGeom>
          <a:solidFill>
            <a:srgbClr val="00B4A0"/>
          </a:solidFill>
          <a:ln/>
        </p:spPr>
      </p:sp>
      <p:sp>
        <p:nvSpPr>
          <p:cNvPr id="22" name="Text 20"/>
          <p:cNvSpPr/>
          <p:nvPr/>
        </p:nvSpPr>
        <p:spPr>
          <a:xfrm>
            <a:off x="6903720" y="40233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auto-retrieve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15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advantage: Google Vertex has Example Store. Databricks adds DSPy optimization + multi-agent sharing.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8A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Layer 3: Agent Collaboration Framework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compounds across the agent fleet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931920" cy="1280160"/>
          </a:xfrm>
          <a:prstGeom prst="rect">
            <a:avLst/>
          </a:prstGeom>
          <a:solidFill>
            <a:srgbClr val="E0E1DD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737360"/>
            <a:ext cx="73152" cy="128016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Registry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24028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15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as UC assets with versioning, forking, and lineage tracking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737360"/>
            <a:ext cx="3931920" cy="1280160"/>
          </a:xfrm>
          <a:prstGeom prst="rect">
            <a:avLst/>
          </a:prstGeom>
          <a:solidFill>
            <a:srgbClr val="E0E1DD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1737360"/>
            <a:ext cx="73152" cy="1280160"/>
          </a:xfrm>
          <a:prstGeom prst="rect">
            <a:avLst/>
          </a:prstGeom>
          <a:solidFill>
            <a:srgbClr val="00B4A0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Example Stores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224028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15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agents subscribe to same domains. One correction improves all.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3931920" cy="1280160"/>
          </a:xfrm>
          <a:prstGeom prst="rect">
            <a:avLst/>
          </a:prstGeom>
          <a:solidFill>
            <a:srgbClr val="E0E1DD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3246120"/>
            <a:ext cx="73152" cy="1280160"/>
          </a:xfrm>
          <a:prstGeom prst="rect">
            <a:avLst/>
          </a:prstGeom>
          <a:solidFill>
            <a:srgbClr val="FF8A5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337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Pools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374904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15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agent handoffs. Customer calls back, Agent B has full context in &lt;10ms via OLTP.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3246120"/>
            <a:ext cx="3931920" cy="1280160"/>
          </a:xfrm>
          <a:prstGeom prst="rect">
            <a:avLst/>
          </a:prstGeom>
          <a:solidFill>
            <a:srgbClr val="E0E1DD"/>
          </a:solidFill>
          <a:ln/>
        </p:spPr>
      </p:sp>
      <p:sp>
        <p:nvSpPr>
          <p:cNvPr id="18" name="Shape 16"/>
          <p:cNvSpPr/>
          <p:nvPr/>
        </p:nvSpPr>
        <p:spPr>
          <a:xfrm>
            <a:off x="4754880" y="3246120"/>
            <a:ext cx="73152" cy="1280160"/>
          </a:xfrm>
          <a:prstGeom prst="rect">
            <a:avLst/>
          </a:prstGeom>
          <a:solidFill>
            <a:srgbClr val="1B263B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3337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Skill Registry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37760" y="374904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15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Learned tool patterns propagate. Discover once, apply everywhere.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663440"/>
            <a:ext cx="8229600" cy="4114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663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governed by Unity Catalog. Full lineage from agent decision to source data.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Collaborative Learning Flywheel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77240" y="1188720"/>
            <a:ext cx="548640" cy="548640"/>
          </a:xfrm>
          <a:prstGeom prst="ellipse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1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encounters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0E1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case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508760" y="12344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78DA9"/>
                </a:solidFill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194560" y="1188720"/>
            <a:ext cx="548640" cy="548640"/>
          </a:xfrm>
          <a:prstGeom prst="ellipse">
            <a:avLst/>
          </a:prstGeom>
          <a:solidFill>
            <a:srgbClr val="00B4A0"/>
          </a:solidFill>
          <a:ln/>
        </p:spPr>
      </p:sp>
      <p:sp>
        <p:nvSpPr>
          <p:cNvPr id="8" name="Text 6"/>
          <p:cNvSpPr/>
          <p:nvPr/>
        </p:nvSpPr>
        <p:spPr>
          <a:xfrm>
            <a:off x="219456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874520" y="182880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1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authors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0E1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corrective example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926080" y="12344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78DA9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611880" y="1188720"/>
            <a:ext cx="548640" cy="548640"/>
          </a:xfrm>
          <a:prstGeom prst="ellipse">
            <a:avLst/>
          </a:prstGeom>
          <a:solidFill>
            <a:srgbClr val="FF8A50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291840" y="182880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1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uploaded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0E1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shared store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43400" y="12344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78DA9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029200" y="1188720"/>
            <a:ext cx="548640" cy="54864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709160" y="182880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1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subscribed agents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0E1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auto-retrieve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760720" y="12344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78DA9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446520" y="1188720"/>
            <a:ext cx="548640" cy="548640"/>
          </a:xfrm>
          <a:prstGeom prst="ellipse">
            <a:avLst/>
          </a:prstGeom>
          <a:solidFill>
            <a:srgbClr val="FF6A00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126480" y="182880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1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DSPy optimizes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0E1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(MLflow tracked)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178040" y="12344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78DA9"/>
                </a:solidFill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863840" y="1188720"/>
            <a:ext cx="548640" cy="548640"/>
          </a:xfrm>
          <a:prstGeom prst="ellipse">
            <a:avLst/>
          </a:prstGeom>
          <a:solidFill>
            <a:srgbClr val="00B4A0"/>
          </a:solidFill>
          <a:ln/>
        </p:spPr>
      </p:sp>
      <p:sp>
        <p:nvSpPr>
          <p:cNvPr id="24" name="Text 22"/>
          <p:cNvSpPr/>
          <p:nvPr/>
        </p:nvSpPr>
        <p:spPr>
          <a:xfrm>
            <a:off x="786384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543800" y="182880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1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feed back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0E1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quality scores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2926080"/>
            <a:ext cx="8229600" cy="1645920"/>
          </a:xfrm>
          <a:prstGeom prst="rect">
            <a:avLst/>
          </a:prstGeom>
          <a:solidFill>
            <a:srgbClr val="1B263B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063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" y="338328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1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correction improves all agents in that domain.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0E1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code changes. No redeployment. Immediate effect.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0E1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compounds across the organization, not just individual agents.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Unified Architecture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15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0" y="960120"/>
            <a:ext cx="2011680" cy="411480"/>
          </a:xfrm>
          <a:prstGeom prst="rect">
            <a:avLst/>
          </a:prstGeom>
          <a:solidFill>
            <a:srgbClr val="FF8A50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0" y="9601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Agent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0" y="960120"/>
            <a:ext cx="2011680" cy="411480"/>
          </a:xfrm>
          <a:prstGeom prst="rect">
            <a:avLst/>
          </a:prstGeom>
          <a:solidFill>
            <a:srgbClr val="FF8A50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0" y="9601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Agent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0" y="960120"/>
            <a:ext cx="2011680" cy="411480"/>
          </a:xfrm>
          <a:prstGeom prst="rect">
            <a:avLst/>
          </a:prstGeom>
          <a:solidFill>
            <a:srgbClr val="FF8A5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9601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 Agent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28800" y="13716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15A77"/>
                </a:solidFill>
              </a:rPr>
              <a:t>↓        ↓        ↓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1691640"/>
            <a:ext cx="8229600" cy="502920"/>
          </a:xfrm>
          <a:prstGeom prst="rect">
            <a:avLst/>
          </a:prstGeom>
          <a:solidFill>
            <a:srgbClr val="1B263B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691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Registry (Unity Catalog)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0" y="21945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15A77"/>
                </a:solidFill>
              </a:rPr>
              <a:t>↓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514600"/>
            <a:ext cx="2651760" cy="822960"/>
          </a:xfrm>
          <a:prstGeom prst="rect">
            <a:avLst/>
          </a:prstGeom>
          <a:solidFill>
            <a:srgbClr val="00B4A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5603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Store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9260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1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Search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91840" y="2514600"/>
            <a:ext cx="2651760" cy="822960"/>
          </a:xfrm>
          <a:prstGeom prst="rect">
            <a:avLst/>
          </a:prstGeom>
          <a:solidFill>
            <a:srgbClr val="FF8A50"/>
          </a:solidFill>
          <a:ln/>
        </p:spPr>
      </p:sp>
      <p:sp>
        <p:nvSpPr>
          <p:cNvPr id="19" name="Text 17"/>
          <p:cNvSpPr/>
          <p:nvPr/>
        </p:nvSpPr>
        <p:spPr>
          <a:xfrm>
            <a:off x="3291840" y="25603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Pool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91840" y="29260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1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Lakehouse OLTP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26480" y="2514600"/>
            <a:ext cx="2651760" cy="82296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0" y="25603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Skills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26480" y="29260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1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Search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114800" y="33832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15A77"/>
                </a:solidFill>
              </a:rPr>
              <a:t>↓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3703320"/>
            <a:ext cx="8229600" cy="82296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Dataset Workbench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1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DataBits  •  DataSets  •  Attribution DAG  •  Quality Scores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14800" y="45262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15A77"/>
                </a:solidFill>
              </a:rPr>
              <a:t>↓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681728"/>
            <a:ext cx="4023360" cy="411480"/>
          </a:xfrm>
          <a:prstGeom prst="rect">
            <a:avLst/>
          </a:prstGeom>
          <a:solidFill>
            <a:srgbClr val="00B4A0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681728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 Tracking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4864608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0E1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Experiments • Model Registry • Lineage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663440" y="4681728"/>
            <a:ext cx="4023360" cy="411480"/>
          </a:xfrm>
          <a:prstGeom prst="rect">
            <a:avLst/>
          </a:prstGeom>
          <a:solidFill>
            <a:srgbClr val="1B263B"/>
          </a:solidFill>
          <a:ln/>
        </p:spPr>
      </p:sp>
      <p:sp>
        <p:nvSpPr>
          <p:cNvPr id="33" name="Text 31"/>
          <p:cNvSpPr/>
          <p:nvPr/>
        </p:nvSpPr>
        <p:spPr>
          <a:xfrm>
            <a:off x="4663440" y="4681728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Lakehouse OLTP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663440" y="4864608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8D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Handoffs • Context Pool Only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Infrastructure Advantage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31920" cy="3474720"/>
          </a:xfrm>
          <a:prstGeom prst="rect">
            <a:avLst/>
          </a:prstGeom>
          <a:solidFill>
            <a:srgbClr val="E0E1D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3931920" cy="502920"/>
          </a:xfrm>
          <a:prstGeom prst="rect">
            <a:avLst/>
          </a:prstGeom>
          <a:solidFill>
            <a:srgbClr val="00B4A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MLflow 3.0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Experiment Backbone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3566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15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DSPy Optimization Tracking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15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optimization run logged with hyperparameters, metrics, and prompt versions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415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Versioning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15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DataSets registered as MLflow datasets with lineage to DataBits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415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Registry Integration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15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Optimized DSPy modules registered with links to training data and examples used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415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Reproducibility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15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 back to any previous model + dataset + example store state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3931920" cy="3474720"/>
          </a:xfrm>
          <a:prstGeom prst="rect">
            <a:avLst/>
          </a:prstGeom>
          <a:solidFill>
            <a:srgbClr val="E0E1DD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1051560"/>
            <a:ext cx="3931920" cy="502920"/>
          </a:xfrm>
          <a:prstGeom prst="rect">
            <a:avLst/>
          </a:prstGeom>
          <a:solidFill>
            <a:srgbClr val="1B263B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0972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Lakehouse OLTP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16916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Agent Handoffs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2011680"/>
            <a:ext cx="3566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15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Use Case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15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talks to Agent A, hangs up, calls back to Agent B. Context must be there instantly.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415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OLTP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15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Sub-10ms reads for real-time context. Point writes after each turn. Delta Lake batch commits are too slow.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415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Scoped to Context Pools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15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else (Examples, Skills, DataBits) is batch-tolerant or handled by Vector Search.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415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with Analytics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15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context data feeds DSPy optimization—no ETL.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4663440"/>
            <a:ext cx="8229600" cy="41148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663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 for reproducibility. OLTP for instant handoffs. Both on one Lakehouse.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Competitive Positioning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3291840"/>
        </p:xfrm>
        <a:graphic>
          <a:graphicData uri="http://schemas.openxmlformats.org/drawingml/2006/table">
            <a:tbl>
              <a:tblPr/>
              <a:tblGrid>
                <a:gridCol w="2286000"/>
                <a:gridCol w="2011680"/>
                <a:gridCol w="2011680"/>
                <a:gridCol w="19202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Databricks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Vertex AI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AWS Bedrock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 Registry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B4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UC-native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 Engine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Dynamic Few-Shot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B4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Multi-agent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Per-agent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8A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Cross-Agent Context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B4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Context Pools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8A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 Skill Sharing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B4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8A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8A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DSPy Optimization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B4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Native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8A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8A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Lineage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B4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UC Lineage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8A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Cross-Workspace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B4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Delta Sharing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8A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8A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78D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526280"/>
            <a:ext cx="8229600" cy="502920"/>
          </a:xfrm>
          <a:prstGeom prst="rect">
            <a:avLst/>
          </a:prstGeom>
          <a:solidFill>
            <a:srgbClr val="1B263B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45262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Databricks owns the full stack: data → learning → multi-agent coordination. All governed by UC.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Consumption Flywheel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layer drives DBU consumption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51760" cy="2560320"/>
          </a:xfrm>
          <a:prstGeom prst="rect">
            <a:avLst/>
          </a:prstGeom>
          <a:solidFill>
            <a:srgbClr val="E0E1DD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63040"/>
            <a:ext cx="2651760" cy="50292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08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Curation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1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+ Compute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210312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15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 Lake storage for DataBits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15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 jobs for import/transform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15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 tracking overhead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463040"/>
            <a:ext cx="2651760" cy="2560320"/>
          </a:xfrm>
          <a:prstGeom prst="rect">
            <a:avLst/>
          </a:prstGeom>
          <a:solidFill>
            <a:srgbClr val="E0E1DD"/>
          </a:solidFill>
          <a:ln/>
        </p:spPr>
      </p:sp>
      <p:sp>
        <p:nvSpPr>
          <p:cNvPr id="11" name="Shape 9"/>
          <p:cNvSpPr/>
          <p:nvPr/>
        </p:nvSpPr>
        <p:spPr>
          <a:xfrm>
            <a:off x="3291840" y="1463040"/>
            <a:ext cx="2651760" cy="502920"/>
          </a:xfrm>
          <a:prstGeom prst="rect">
            <a:avLst/>
          </a:prstGeom>
          <a:solidFill>
            <a:srgbClr val="00B4A0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508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Retrieval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178308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1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Search DBUs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29000" y="210312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15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agent query hits Vector Search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15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Scales with agent invocations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15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= multiplied retrieval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463040"/>
            <a:ext cx="2651760" cy="2560320"/>
          </a:xfrm>
          <a:prstGeom prst="rect">
            <a:avLst/>
          </a:prstGeom>
          <a:solidFill>
            <a:srgbClr val="E0E1DD"/>
          </a:solidFill>
          <a:ln/>
        </p:spPr>
      </p:sp>
      <p:sp>
        <p:nvSpPr>
          <p:cNvPr id="16" name="Shape 14"/>
          <p:cNvSpPr/>
          <p:nvPr/>
        </p:nvSpPr>
        <p:spPr>
          <a:xfrm>
            <a:off x="6126480" y="1463040"/>
            <a:ext cx="2651760" cy="502920"/>
          </a:xfrm>
          <a:prstGeom prst="rect">
            <a:avLst/>
          </a:prstGeom>
          <a:solidFill>
            <a:srgbClr val="FF8A50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1508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DSPy Optimization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26480" y="178308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1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Compute + FM APIs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63640" y="210312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15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Hundreds of prompt evaluations per run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15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Model API calls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15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Periodic optimization across corpus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206240"/>
            <a:ext cx="8229600" cy="868680"/>
          </a:xfrm>
          <a:prstGeom prst="rect">
            <a:avLst/>
          </a:prstGeom>
          <a:solidFill>
            <a:srgbClr val="1B263B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297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12-Month Targets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10M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0080" y="482803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8D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DataBits/mo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69748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100M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2697480" y="482803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8D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retrievals/mo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5488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10K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754880" y="482803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8D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DSPy runs/mo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81228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$5M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812280" y="482803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8D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 equivalent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Implementation Roadmap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011680" cy="41148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2011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15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DataBit/DataSet core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15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annotation UI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15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 integration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15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import/export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51760" y="1051560"/>
            <a:ext cx="2011680" cy="411480"/>
          </a:xfrm>
          <a:prstGeom prst="rect">
            <a:avLst/>
          </a:prstGeom>
          <a:solidFill>
            <a:srgbClr val="00B4A0"/>
          </a:solidFill>
          <a:ln/>
        </p:spPr>
      </p:sp>
      <p:sp>
        <p:nvSpPr>
          <p:cNvPr id="9" name="Text 7"/>
          <p:cNvSpPr/>
          <p:nvPr/>
        </p:nvSpPr>
        <p:spPr>
          <a:xfrm>
            <a:off x="2651760" y="10515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51760" y="15544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Layer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51760" y="1920240"/>
            <a:ext cx="2011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15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Store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15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Search index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15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Framework hooks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15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API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1051560"/>
            <a:ext cx="2011680" cy="411480"/>
          </a:xfrm>
          <a:prstGeom prst="rect">
            <a:avLst/>
          </a:prstGeom>
          <a:solidFill>
            <a:srgbClr val="FF8A50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0515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46320" y="15544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1920240"/>
            <a:ext cx="2011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15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DSPy integration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15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 tracking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15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Cross-agent optimization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15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loop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040880" y="1051560"/>
            <a:ext cx="2011680" cy="411480"/>
          </a:xfrm>
          <a:prstGeom prst="rect">
            <a:avLst/>
          </a:prstGeom>
          <a:solidFill>
            <a:srgbClr val="1B263B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0" y="10515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40880" y="15544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040880" y="1920240"/>
            <a:ext cx="2011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15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Pools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15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Skill Registry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15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forking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15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 Sharing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463040" y="1261872"/>
            <a:ext cx="6583680" cy="0"/>
          </a:xfrm>
          <a:prstGeom prst="line">
            <a:avLst/>
          </a:prstGeom>
          <a:noFill/>
          <a:ln w="25400">
            <a:solidFill>
              <a:srgbClr val="778DA9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457200" y="3840480"/>
            <a:ext cx="8229600" cy="1188720"/>
          </a:xfrm>
          <a:prstGeom prst="rect">
            <a:avLst/>
          </a:prstGeom>
          <a:solidFill>
            <a:srgbClr val="E0E1DD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931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42519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15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Mosaic AI Agent Framework runtime hooks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15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Databricks Vector Search (GA)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15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Lakehouse OLTP for real-time Context Pools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15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DSPy team coordination (internal)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Lakehouse Advantage</a:t>
            </a:r>
            <a:endParaRPr lang="en-US" sz="36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 Agentic AI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78D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data, learning, and collaboration—all governed by Unity Catalog.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926080"/>
            <a:ext cx="2651760" cy="100584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017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Workbench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4290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1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Versioned, attributed training data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2926080"/>
            <a:ext cx="2651760" cy="1005840"/>
          </a:xfrm>
          <a:prstGeom prst="rect">
            <a:avLst/>
          </a:prstGeom>
          <a:solidFill>
            <a:srgbClr val="00B4A0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3017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Example Store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91840" y="34290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1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few-shot, zero-deployment fixes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2926080"/>
            <a:ext cx="2651760" cy="1005840"/>
          </a:xfrm>
          <a:prstGeom prst="rect">
            <a:avLst/>
          </a:prstGeom>
          <a:solidFill>
            <a:srgbClr val="FF8A50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0" y="3017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Collaboration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126480" y="34290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1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knowledge compounding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build the platform that makes enterprise AI knowledge compound.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Lakehouse AI Platform</dc:title>
  <dc:subject>PptxGenJS Presentation</dc:subject>
  <dc:creator>Stuart</dc:creator>
  <cp:lastModifiedBy>Stuart</cp:lastModifiedBy>
  <cp:revision>1</cp:revision>
  <dcterms:created xsi:type="dcterms:W3CDTF">2026-01-30T22:44:39Z</dcterms:created>
  <dcterms:modified xsi:type="dcterms:W3CDTF">2026-01-30T22:44:39Z</dcterms:modified>
</cp:coreProperties>
</file>